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5D568-807D-4C21-98AE-B4D3FFDAA95D}" v="1119" dt="2026-09-07T10:34:01.100"/>
    <p1510:client id="{7FC8187F-4A40-47C2-BE73-CE2593E3FDE5}" v="1649" dt="2026-09-08T11:36:58.84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 </a:t>
            </a:r>
            <a:endParaRPr lang="en-IN" b="0" dirty="0">
              <a:solidFill>
                <a:schemeClr val="tx1"/>
              </a:solidFill>
            </a:endParaRPr>
          </a:p>
          <a:p>
            <a:pPr algn="r"/>
            <a:r>
              <a:rPr lang="en-US" b="0" dirty="0">
                <a:solidFill>
                  <a:schemeClr val="tx1"/>
                </a:solidFill>
              </a:rPr>
              <a:t>College Name -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799927"/>
            <a:ext cx="8125160" cy="754655"/>
          </a:xfrm>
        </p:spPr>
        <p:txBody>
          <a:bodyPr>
            <a:normAutofit/>
          </a:bodyPr>
          <a:lstStyle/>
          <a:p>
            <a:r>
              <a:rPr lang="en-GB" sz="2400" dirty="0">
                <a:latin typeface="Arial"/>
                <a:cs typeface="Arial"/>
              </a:rPr>
              <a:t>Project Title – </a:t>
            </a:r>
            <a:r>
              <a:rPr lang="en-GB" sz="2400" dirty="0">
                <a:latin typeface="Trebuchet MS"/>
                <a:cs typeface="Arial"/>
              </a:rPr>
              <a:t>Seasonal Agriculture Perform</a:t>
            </a:r>
            <a:r>
              <a:rPr lang="en-US" sz="2400" dirty="0" err="1">
                <a:latin typeface="Trebuchet MS"/>
                <a:cs typeface="Arial"/>
              </a:rPr>
              <a:t>ance</a:t>
            </a:r>
            <a:r>
              <a:rPr lang="en-US" sz="2400" dirty="0">
                <a:latin typeface="Trebuchet MS"/>
                <a:cs typeface="Arial"/>
              </a:rPr>
              <a:t>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237553" y="4587675"/>
            <a:ext cx="3176362" cy="369332"/>
          </a:xfrm>
          <a:prstGeom prst="rect">
            <a:avLst/>
          </a:prstGeom>
          <a:noFill/>
        </p:spPr>
        <p:txBody>
          <a:bodyPr wrap="square" lIns="91440" tIns="45720" rIns="91440" bIns="45720" rtlCol="0" anchor="t">
            <a:spAutoFit/>
          </a:bodyPr>
          <a:lstStyle/>
          <a:p>
            <a:r>
              <a:rPr lang="en-US" b="1" dirty="0"/>
              <a:t>AICTE STU ID : </a:t>
            </a:r>
          </a:p>
        </p:txBody>
      </p:sp>
      <p:sp>
        <p:nvSpPr>
          <p:cNvPr id="7" name="TextBox 6">
            <a:extLst>
              <a:ext uri="{FF2B5EF4-FFF2-40B4-BE49-F238E27FC236}">
                <a16:creationId xmlns:a16="http://schemas.microsoft.com/office/drawing/2014/main" id="{C5E79938-CD96-6DAF-78DF-1632098EF80E}"/>
              </a:ext>
            </a:extLst>
          </p:cNvPr>
          <p:cNvSpPr txBox="1"/>
          <p:nvPr/>
        </p:nvSpPr>
        <p:spPr>
          <a:xfrm>
            <a:off x="3172616" y="3550589"/>
            <a:ext cx="5410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rebuchet MS"/>
                <a:cs typeface="Arial"/>
              </a:rPr>
              <a:t>DURGA PRASAD ANNAMDEVULA</a:t>
            </a:r>
          </a:p>
        </p:txBody>
      </p:sp>
      <p:sp>
        <p:nvSpPr>
          <p:cNvPr id="8" name="TextBox 7">
            <a:extLst>
              <a:ext uri="{FF2B5EF4-FFF2-40B4-BE49-F238E27FC236}">
                <a16:creationId xmlns:a16="http://schemas.microsoft.com/office/drawing/2014/main" id="{826CC882-3EC6-2920-7769-B765B62A75EC}"/>
              </a:ext>
            </a:extLst>
          </p:cNvPr>
          <p:cNvSpPr txBox="1"/>
          <p:nvPr/>
        </p:nvSpPr>
        <p:spPr>
          <a:xfrm>
            <a:off x="3175362" y="4012595"/>
            <a:ext cx="65307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rebuchet MS"/>
                <a:ea typeface="Calibri"/>
                <a:cs typeface="Arial"/>
              </a:rPr>
              <a:t>Aditya Degree College </a:t>
            </a:r>
            <a:r>
              <a:rPr lang="en-US" sz="2400" dirty="0" err="1">
                <a:latin typeface="Trebuchet MS"/>
                <a:ea typeface="Calibri"/>
                <a:cs typeface="Arial"/>
              </a:rPr>
              <a:t>Rajamahendravaram</a:t>
            </a:r>
            <a:endParaRPr lang="en-US" sz="2400" dirty="0">
              <a:latin typeface="Trebuchet MS"/>
              <a:ea typeface="Calibri"/>
              <a:cs typeface="Arial"/>
            </a:endParaRPr>
          </a:p>
        </p:txBody>
      </p:sp>
      <p:sp>
        <p:nvSpPr>
          <p:cNvPr id="9" name="TextBox 8">
            <a:extLst>
              <a:ext uri="{FF2B5EF4-FFF2-40B4-BE49-F238E27FC236}">
                <a16:creationId xmlns:a16="http://schemas.microsoft.com/office/drawing/2014/main" id="{D6BD8600-895E-1CDC-220A-755D3E8D5FFA}"/>
              </a:ext>
            </a:extLst>
          </p:cNvPr>
          <p:cNvSpPr txBox="1"/>
          <p:nvPr/>
        </p:nvSpPr>
        <p:spPr>
          <a:xfrm>
            <a:off x="3189363" y="4586634"/>
            <a:ext cx="52645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STU676bea311090a1735125553     </a:t>
            </a:r>
            <a:endParaRPr lang="en-US" sz="240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63878" y="1358704"/>
            <a:ext cx="8029114" cy="4238279"/>
          </a:xfrm>
        </p:spPr>
        <p:txBody>
          <a:bodyPr vert="horz" lIns="91440" tIns="45720" rIns="91440" bIns="45720" rtlCol="0" anchor="t">
            <a:noAutofit/>
          </a:bodyPr>
          <a:lstStyle/>
          <a:p>
            <a:r>
              <a:rPr lang="en-US" dirty="0">
                <a:solidFill>
                  <a:schemeClr val="accent2">
                    <a:lumMod val="76000"/>
                  </a:schemeClr>
                </a:solidFill>
                <a:ea typeface="+mn-lt"/>
                <a:cs typeface="+mn-lt"/>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a:p>
            <a:pPr marL="0" indent="0">
              <a:buNone/>
            </a:pPr>
            <a:endParaRPr lang="en-US" sz="24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642861" y="2941273"/>
            <a:ext cx="2259717"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[write detail description about your project ]</a:t>
            </a:r>
            <a:br>
              <a:rPr lang="en-GB" dirty="0"/>
            </a:br>
            <a:endParaRPr lang="en-GB" sz="2000" b="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761F5583-1A17-4E1B-CD66-3281E4D2453A}"/>
              </a:ext>
            </a:extLst>
          </p:cNvPr>
          <p:cNvSpPr txBox="1"/>
          <p:nvPr/>
        </p:nvSpPr>
        <p:spPr>
          <a:xfrm>
            <a:off x="671887" y="3612082"/>
            <a:ext cx="944431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dirty="0"/>
              <a:t>This Project Analyzes Seasonal Agricultural Performance By Studying </a:t>
            </a:r>
            <a:r>
              <a:rPr lang="en-US" sz="2000" dirty="0">
                <a:solidFill>
                  <a:srgbClr val="7030A0"/>
                </a:solidFill>
              </a:rPr>
              <a:t>Environmental Conditions, Resource Usage, Crop Production, And Economic</a:t>
            </a:r>
            <a:endParaRPr lang="en-US"/>
          </a:p>
          <a:p>
            <a:r>
              <a:rPr lang="en-US" sz="2000" dirty="0">
                <a:solidFill>
                  <a:srgbClr val="7030A0"/>
                </a:solidFill>
              </a:rPr>
              <a:t>    Outcomes </a:t>
            </a:r>
            <a:r>
              <a:rPr lang="en-US" sz="2000" dirty="0"/>
              <a:t>To Identify Key Patterns And Trends.</a:t>
            </a:r>
          </a:p>
          <a:p>
            <a:endParaRPr lang="en-US" sz="2000" dirty="0"/>
          </a:p>
          <a:p>
            <a:pPr marL="342900" indent="-342900">
              <a:buFont typeface="Arial"/>
              <a:buChar char="•"/>
            </a:pPr>
            <a:r>
              <a:rPr lang="en-US" sz="2000" dirty="0"/>
              <a:t> The Findings Provide </a:t>
            </a:r>
            <a:r>
              <a:rPr lang="en-US" sz="2000" dirty="0">
                <a:solidFill>
                  <a:srgbClr val="7030A0"/>
                </a:solidFill>
              </a:rPr>
              <a:t>Useful Insights For Better Agricultural Planning  And   Decision – Making </a:t>
            </a:r>
            <a:r>
              <a:rPr lang="en-US" sz="2000" dirty="0"/>
              <a:t>Across Seasons</a:t>
            </a:r>
            <a:r>
              <a:rPr lang="en-US" sz="2000" dirty="0">
                <a:solidFill>
                  <a:srgbClr val="7030A0"/>
                </a:solidFill>
              </a:rPr>
              <a: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791741" cy="3990023"/>
          </a:xfrm>
        </p:spPr>
        <p:txBody>
          <a:bodyPr vert="horz" lIns="91440" tIns="45720" rIns="91440" bIns="45720" rtlCol="0" anchor="t">
            <a:normAutofit fontScale="70000" lnSpcReduction="20000"/>
          </a:bodyPr>
          <a:lstStyle/>
          <a:p>
            <a:pPr algn="just"/>
            <a:r>
              <a:rPr lang="en-IN" sz="3200" b="1" dirty="0">
                <a:solidFill>
                  <a:srgbClr val="002060"/>
                </a:solidFill>
                <a:latin typeface="Arial"/>
                <a:ea typeface="+mn-lt"/>
                <a:cs typeface="Arial"/>
              </a:rPr>
              <a:t>Farmers</a:t>
            </a:r>
            <a:r>
              <a:rPr lang="en-IN" sz="3600" dirty="0">
                <a:ea typeface="+mn-lt"/>
                <a:cs typeface="+mn-lt"/>
              </a:rPr>
              <a:t>: To understand crop performance and improve farming decisions.</a:t>
            </a:r>
            <a:endParaRPr lang="en-IN" sz="2400" b="1" dirty="0">
              <a:latin typeface="Arial"/>
              <a:ea typeface="+mn-lt"/>
              <a:cs typeface="Arial"/>
            </a:endParaRPr>
          </a:p>
          <a:p>
            <a:pPr algn="just"/>
            <a:r>
              <a:rPr lang="en-IN" sz="3600" b="1" dirty="0">
                <a:solidFill>
                  <a:srgbClr val="002060"/>
                </a:solidFill>
                <a:latin typeface="Arial"/>
                <a:ea typeface="+mn-lt"/>
                <a:cs typeface="Arial"/>
              </a:rPr>
              <a:t>Agricultural Officers</a:t>
            </a:r>
            <a:r>
              <a:rPr lang="en-IN" sz="3600" dirty="0">
                <a:ea typeface="+mn-lt"/>
                <a:cs typeface="+mn-lt"/>
              </a:rPr>
              <a:t>: To support agricultural planning and guidance.</a:t>
            </a:r>
            <a:endParaRPr lang="en-IN"/>
          </a:p>
          <a:p>
            <a:pPr algn="just"/>
            <a:r>
              <a:rPr lang="en-IN" sz="3600" b="1" dirty="0">
                <a:solidFill>
                  <a:srgbClr val="002060"/>
                </a:solidFill>
                <a:latin typeface="Arial"/>
                <a:ea typeface="+mn-lt"/>
                <a:cs typeface="Arial"/>
              </a:rPr>
              <a:t>Researchers</a:t>
            </a:r>
            <a:r>
              <a:rPr lang="en-IN" sz="3600" dirty="0">
                <a:ea typeface="+mn-lt"/>
                <a:cs typeface="+mn-lt"/>
              </a:rPr>
              <a:t>: To study seasonal and crop yield patterns.</a:t>
            </a:r>
            <a:endParaRPr lang="en-IN" dirty="0"/>
          </a:p>
          <a:p>
            <a:pPr algn="just"/>
            <a:r>
              <a:rPr lang="en-IN" sz="3600" b="1" dirty="0">
                <a:solidFill>
                  <a:srgbClr val="002060"/>
                </a:solidFill>
                <a:latin typeface="Arial"/>
                <a:ea typeface="+mn-lt"/>
                <a:cs typeface="Arial"/>
              </a:rPr>
              <a:t>Government &amp; Policy Makers</a:t>
            </a:r>
            <a:r>
              <a:rPr lang="en-IN" sz="3600" dirty="0">
                <a:ea typeface="+mn-lt"/>
                <a:cs typeface="+mn-lt"/>
              </a:rPr>
              <a:t>: To make data-driven agricultural policies.</a:t>
            </a:r>
            <a:endParaRPr lang="en-IN" dirty="0"/>
          </a:p>
          <a:p>
            <a:pPr algn="just">
              <a:lnSpc>
                <a:spcPct val="150000"/>
              </a:lnSpc>
            </a:pPr>
            <a:r>
              <a:rPr lang="en-IN" sz="3600" b="1" dirty="0">
                <a:solidFill>
                  <a:srgbClr val="002060"/>
                </a:solidFill>
                <a:latin typeface="Arial"/>
                <a:ea typeface="+mn-lt"/>
                <a:cs typeface="Arial"/>
              </a:rPr>
              <a:t>Agribusinesses</a:t>
            </a:r>
            <a:r>
              <a:rPr lang="en-IN" sz="3600" dirty="0">
                <a:ea typeface="+mn-lt"/>
                <a:cs typeface="+mn-lt"/>
              </a:rPr>
              <a:t>: To plan resources based on crop production trends.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lvl="1">
              <a:lnSpc>
                <a:spcPct val="150000"/>
              </a:lnSpc>
            </a:pPr>
            <a:r>
              <a:rPr lang="en-IN" sz="2400" dirty="0">
                <a:solidFill>
                  <a:srgbClr val="0070C0"/>
                </a:solidFill>
              </a:rPr>
              <a:t>Python – </a:t>
            </a:r>
            <a:r>
              <a:rPr lang="en-IN" sz="2400" dirty="0">
                <a:solidFill>
                  <a:schemeClr val="tx1"/>
                </a:solidFill>
              </a:rPr>
              <a:t>Data Analysis And Processing.</a:t>
            </a:r>
          </a:p>
          <a:p>
            <a:pPr lvl="1">
              <a:lnSpc>
                <a:spcPct val="150000"/>
              </a:lnSpc>
            </a:pPr>
            <a:r>
              <a:rPr lang="en-IN" sz="2400" dirty="0">
                <a:solidFill>
                  <a:srgbClr val="0070C0"/>
                </a:solidFill>
              </a:rPr>
              <a:t>Pandas – </a:t>
            </a:r>
            <a:r>
              <a:rPr lang="en-IN" sz="2400" dirty="0">
                <a:solidFill>
                  <a:schemeClr val="tx1"/>
                </a:solidFill>
              </a:rPr>
              <a:t>Data Cleaning And Manipulation.</a:t>
            </a:r>
          </a:p>
          <a:p>
            <a:pPr lvl="1">
              <a:lnSpc>
                <a:spcPct val="150000"/>
              </a:lnSpc>
            </a:pPr>
            <a:r>
              <a:rPr lang="en-IN" sz="2400" dirty="0" err="1">
                <a:solidFill>
                  <a:srgbClr val="0070C0"/>
                </a:solidFill>
              </a:rPr>
              <a:t>Numpy</a:t>
            </a:r>
            <a:r>
              <a:rPr lang="en-IN" sz="2400" dirty="0">
                <a:solidFill>
                  <a:srgbClr val="0070C0"/>
                </a:solidFill>
              </a:rPr>
              <a:t> – </a:t>
            </a:r>
            <a:r>
              <a:rPr lang="en-IN" sz="2400" dirty="0">
                <a:solidFill>
                  <a:schemeClr val="tx1"/>
                </a:solidFill>
              </a:rPr>
              <a:t>Numerical Operations.</a:t>
            </a:r>
          </a:p>
          <a:p>
            <a:pPr lvl="1">
              <a:lnSpc>
                <a:spcPct val="150000"/>
              </a:lnSpc>
            </a:pPr>
            <a:r>
              <a:rPr lang="en-IN" sz="2400" dirty="0">
                <a:solidFill>
                  <a:srgbClr val="0070C0"/>
                </a:solidFill>
              </a:rPr>
              <a:t>Matplotlib - </a:t>
            </a:r>
            <a:r>
              <a:rPr lang="en-IN" sz="2400" dirty="0">
                <a:solidFill>
                  <a:schemeClr val="tx1"/>
                </a:solidFill>
              </a:rPr>
              <a:t>Data Visualization.</a:t>
            </a:r>
          </a:p>
          <a:p>
            <a:pPr lvl="1">
              <a:lnSpc>
                <a:spcPct val="150000"/>
              </a:lnSpc>
            </a:pPr>
            <a:r>
              <a:rPr lang="en-IN" sz="2400" dirty="0">
                <a:solidFill>
                  <a:srgbClr val="0070C0"/>
                </a:solidFill>
              </a:rPr>
              <a:t>Seaborn -  </a:t>
            </a:r>
            <a:r>
              <a:rPr lang="en-IN" sz="2400" dirty="0">
                <a:solidFill>
                  <a:schemeClr val="tx1"/>
                </a:solidFill>
              </a:rPr>
              <a:t>Statistical Data Visualization.</a:t>
            </a:r>
          </a:p>
          <a:p>
            <a:pPr lvl="1">
              <a:lnSpc>
                <a:spcPct val="150000"/>
              </a:lnSpc>
            </a:pPr>
            <a:r>
              <a:rPr lang="en-IN" sz="2400" dirty="0">
                <a:solidFill>
                  <a:srgbClr val="0070C0"/>
                </a:solidFill>
              </a:rPr>
              <a:t>Google Collab – </a:t>
            </a:r>
            <a:r>
              <a:rPr lang="en-IN" sz="2400" dirty="0">
                <a:solidFill>
                  <a:schemeClr val="tx1"/>
                </a:solidFill>
              </a:rPr>
              <a:t>Coding And Project Execution. </a:t>
            </a:r>
          </a:p>
          <a:p>
            <a:pPr lvl="1">
              <a:lnSpc>
                <a:spcPct val="150000"/>
              </a:lnSpc>
            </a:pPr>
            <a:r>
              <a:rPr lang="en-IN" sz="2400" dirty="0">
                <a:solidFill>
                  <a:srgbClr val="0070C0"/>
                </a:solidFill>
              </a:rPr>
              <a:t>Jupyter Notebook – </a:t>
            </a:r>
            <a:r>
              <a:rPr lang="en-IN" sz="2400" dirty="0">
                <a:solidFill>
                  <a:schemeClr val="tx1"/>
                </a:solidFill>
              </a:rPr>
              <a:t>Project Development And Documentation.</a:t>
            </a:r>
          </a:p>
          <a:p>
            <a:pPr lvl="1">
              <a:lnSpc>
                <a:spcPct val="150000"/>
              </a:lnSpc>
            </a:pPr>
            <a:endParaRPr lang="en-IN" sz="2400" dirty="0">
              <a:solidFill>
                <a:srgbClr val="0070C0"/>
              </a:solidFill>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BE62417-E3AB-BC1F-3436-A90AEFD58F8D}"/>
              </a:ext>
            </a:extLst>
          </p:cNvPr>
          <p:cNvPicPr>
            <a:picLocks noChangeAspect="1"/>
          </p:cNvPicPr>
          <p:nvPr/>
        </p:nvPicPr>
        <p:blipFill>
          <a:blip r:embed="rId3"/>
          <a:stretch>
            <a:fillRect/>
          </a:stretch>
        </p:blipFill>
        <p:spPr>
          <a:xfrm>
            <a:off x="0" y="1200411"/>
            <a:ext cx="12192000" cy="529224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188D3C3C-7772-4A38-C7B7-E9AF99234FC8}"/>
              </a:ext>
            </a:extLst>
          </p:cNvPr>
          <p:cNvPicPr>
            <a:picLocks noChangeAspect="1"/>
          </p:cNvPicPr>
          <p:nvPr/>
        </p:nvPicPr>
        <p:blipFill>
          <a:blip r:embed="rId2"/>
          <a:stretch>
            <a:fillRect/>
          </a:stretch>
        </p:blipFill>
        <p:spPr>
          <a:xfrm>
            <a:off x="0" y="0"/>
            <a:ext cx="12192000" cy="6158631"/>
          </a:xfrm>
          <a:prstGeom prst="rect">
            <a:avLst/>
          </a:prstGeom>
        </p:spPr>
      </p:pic>
      <p:sp>
        <p:nvSpPr>
          <p:cNvPr id="15" name="TextBox 14">
            <a:extLst>
              <a:ext uri="{FF2B5EF4-FFF2-40B4-BE49-F238E27FC236}">
                <a16:creationId xmlns:a16="http://schemas.microsoft.com/office/drawing/2014/main" id="{4AD8424D-0C39-9746-65D2-B320663E2606}"/>
              </a:ext>
            </a:extLst>
          </p:cNvPr>
          <p:cNvSpPr txBox="1"/>
          <p:nvPr/>
        </p:nvSpPr>
        <p:spPr>
          <a:xfrm>
            <a:off x="2514497" y="6331182"/>
            <a:ext cx="8839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accent2">
                    <a:lumMod val="49000"/>
                  </a:schemeClr>
                </a:solidFill>
              </a:rPr>
              <a:t>Kharif Has The Highest Number Of Agricultural Records, </a:t>
            </a:r>
            <a:r>
              <a:rPr lang="en-US" sz="2000" dirty="0" err="1">
                <a:solidFill>
                  <a:schemeClr val="accent2">
                    <a:lumMod val="49000"/>
                  </a:schemeClr>
                </a:solidFill>
              </a:rPr>
              <a:t>zaid</a:t>
            </a:r>
            <a:r>
              <a:rPr lang="en-US" sz="2000" dirty="0">
                <a:solidFill>
                  <a:schemeClr val="accent2">
                    <a:lumMod val="49000"/>
                  </a:schemeClr>
                </a:solidFill>
              </a:rPr>
              <a:t> is lowest.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23C7C206-1D31-04CC-D11E-E87496C77AFA}"/>
              </a:ext>
            </a:extLst>
          </p:cNvPr>
          <p:cNvPicPr>
            <a:picLocks noChangeAspect="1"/>
          </p:cNvPicPr>
          <p:nvPr/>
        </p:nvPicPr>
        <p:blipFill>
          <a:blip r:embed="rId3"/>
          <a:stretch>
            <a:fillRect/>
          </a:stretch>
        </p:blipFill>
        <p:spPr>
          <a:xfrm>
            <a:off x="0" y="0"/>
            <a:ext cx="12192000" cy="5824603"/>
          </a:xfrm>
          <a:prstGeom prst="rect">
            <a:avLst/>
          </a:prstGeom>
        </p:spPr>
      </p:pic>
      <p:sp>
        <p:nvSpPr>
          <p:cNvPr id="3" name="TextBox 2">
            <a:extLst>
              <a:ext uri="{FF2B5EF4-FFF2-40B4-BE49-F238E27FC236}">
                <a16:creationId xmlns:a16="http://schemas.microsoft.com/office/drawing/2014/main" id="{CE3BE2C5-BA94-6380-9F6A-A4A4B374B87D}"/>
              </a:ext>
            </a:extLst>
          </p:cNvPr>
          <p:cNvSpPr txBox="1"/>
          <p:nvPr/>
        </p:nvSpPr>
        <p:spPr>
          <a:xfrm>
            <a:off x="804927" y="6300411"/>
            <a:ext cx="97160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70C0"/>
                </a:solidFill>
              </a:rPr>
              <a:t>Kharif shows the Highest Average Field(5.63 </a:t>
            </a:r>
            <a:r>
              <a:rPr lang="en-US" sz="2000" dirty="0" err="1">
                <a:solidFill>
                  <a:srgbClr val="0070C0"/>
                </a:solidFill>
              </a:rPr>
              <a:t>tonnes</a:t>
            </a:r>
            <a:r>
              <a:rPr lang="en-US" sz="2000" dirty="0">
                <a:solidFill>
                  <a:srgbClr val="0070C0"/>
                </a:solidFill>
              </a:rPr>
              <a:t>/ha), followed by Rabi And Zaid.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995E9719-E9EB-2914-00AD-0028597451C8}"/>
              </a:ext>
            </a:extLst>
          </p:cNvPr>
          <p:cNvPicPr>
            <a:picLocks noChangeAspect="1"/>
          </p:cNvPicPr>
          <p:nvPr/>
        </p:nvPicPr>
        <p:blipFill>
          <a:blip r:embed="rId3"/>
          <a:stretch>
            <a:fillRect/>
          </a:stretch>
        </p:blipFill>
        <p:spPr>
          <a:xfrm>
            <a:off x="0" y="-281836"/>
            <a:ext cx="12192000" cy="6242137"/>
          </a:xfrm>
          <a:prstGeom prst="rect">
            <a:avLst/>
          </a:prstGeom>
        </p:spPr>
      </p:pic>
      <p:sp>
        <p:nvSpPr>
          <p:cNvPr id="6" name="TextBox 5">
            <a:extLst>
              <a:ext uri="{FF2B5EF4-FFF2-40B4-BE49-F238E27FC236}">
                <a16:creationId xmlns:a16="http://schemas.microsoft.com/office/drawing/2014/main" id="{2D9353C0-709B-A47A-C5C4-CDC926E9A8F4}"/>
              </a:ext>
            </a:extLst>
          </p:cNvPr>
          <p:cNvSpPr txBox="1"/>
          <p:nvPr/>
        </p:nvSpPr>
        <p:spPr>
          <a:xfrm>
            <a:off x="8904582" y="2898189"/>
            <a:ext cx="27431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rial"/>
                <a:cs typeface="Arial"/>
              </a:rPr>
              <a:t>Distribution of Irrigation Methods</a:t>
            </a:r>
          </a:p>
        </p:txBody>
      </p:sp>
      <p:sp>
        <p:nvSpPr>
          <p:cNvPr id="11" name="TextBox 10">
            <a:extLst>
              <a:ext uri="{FF2B5EF4-FFF2-40B4-BE49-F238E27FC236}">
                <a16:creationId xmlns:a16="http://schemas.microsoft.com/office/drawing/2014/main" id="{3AE46344-F361-592D-810B-5066CB77C396}"/>
              </a:ext>
            </a:extLst>
          </p:cNvPr>
          <p:cNvSpPr txBox="1"/>
          <p:nvPr/>
        </p:nvSpPr>
        <p:spPr>
          <a:xfrm>
            <a:off x="473964" y="6123209"/>
            <a:ext cx="101022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2060"/>
                </a:solidFill>
              </a:rPr>
              <a:t>Flood Irrigation is the Most Commonly used Method(32.8%), while Sprinkler irrigation is </a:t>
            </a:r>
          </a:p>
          <a:p>
            <a:r>
              <a:rPr lang="en-US" sz="2000" dirty="0">
                <a:solidFill>
                  <a:srgbClr val="002060"/>
                </a:solidFill>
              </a:rPr>
              <a:t>Low.</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1A047867-9BBD-9AFC-68AD-D68E925FEDAB}"/>
              </a:ext>
            </a:extLst>
          </p:cNvPr>
          <p:cNvPicPr>
            <a:picLocks noChangeAspect="1"/>
          </p:cNvPicPr>
          <p:nvPr/>
        </p:nvPicPr>
        <p:blipFill>
          <a:blip r:embed="rId3"/>
          <a:stretch>
            <a:fillRect/>
          </a:stretch>
        </p:blipFill>
        <p:spPr>
          <a:xfrm>
            <a:off x="0" y="0"/>
            <a:ext cx="12192000" cy="5835042"/>
          </a:xfrm>
          <a:prstGeom prst="rect">
            <a:avLst/>
          </a:prstGeom>
        </p:spPr>
      </p:pic>
      <p:sp>
        <p:nvSpPr>
          <p:cNvPr id="3" name="TextBox 2">
            <a:extLst>
              <a:ext uri="{FF2B5EF4-FFF2-40B4-BE49-F238E27FC236}">
                <a16:creationId xmlns:a16="http://schemas.microsoft.com/office/drawing/2014/main" id="{4B845E81-B664-C638-8645-2D9BF9B45388}"/>
              </a:ext>
            </a:extLst>
          </p:cNvPr>
          <p:cNvSpPr txBox="1"/>
          <p:nvPr/>
        </p:nvSpPr>
        <p:spPr>
          <a:xfrm>
            <a:off x="657793" y="6146401"/>
            <a:ext cx="111356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The Heatmap Shows the Relationships between different Agricultural Variables.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464EA59-5CAA-DDD6-6CB1-064D602401CC}"/>
              </a:ext>
            </a:extLst>
          </p:cNvPr>
          <p:cNvSpPr txBox="1"/>
          <p:nvPr/>
        </p:nvSpPr>
        <p:spPr>
          <a:xfrm>
            <a:off x="685839" y="1498097"/>
            <a:ext cx="9746876"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US" sz="2000" dirty="0">
                <a:solidFill>
                  <a:srgbClr val="7030A0"/>
                </a:solidFill>
                <a:ea typeface="+mn-lt"/>
                <a:cs typeface="+mn-lt"/>
              </a:rPr>
              <a:t>Helps farmers choose suitable crops and seasons based on past agricultural performance.</a:t>
            </a:r>
            <a:endParaRPr lang="en-US" sz="2000">
              <a:solidFill>
                <a:srgbClr val="7030A0"/>
              </a:solidFill>
            </a:endParaRPr>
          </a:p>
          <a:p>
            <a:pPr marL="285750" indent="-285750">
              <a:buFont typeface="Wingdings"/>
              <a:buChar char="§"/>
            </a:pPr>
            <a:r>
              <a:rPr lang="en-US" sz="2000" dirty="0">
                <a:solidFill>
                  <a:srgbClr val="7030A0"/>
                </a:solidFill>
                <a:ea typeface="+mn-lt"/>
                <a:cs typeface="+mn-lt"/>
              </a:rPr>
              <a:t>Supports better use of water and other farming resources.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be extended with AI/ML to predict future crop yield and profitability.</a:t>
            </a:r>
            <a:endParaRPr lang="en-US" sz="2000">
              <a:solidFill>
                <a:srgbClr val="7030A0"/>
              </a:solidFill>
            </a:endParaRPr>
          </a:p>
          <a:p>
            <a:pPr marL="285750" indent="-285750">
              <a:buFont typeface="Wingdings"/>
              <a:buChar char="§"/>
            </a:pPr>
            <a:r>
              <a:rPr lang="en-US" sz="2000" dirty="0">
                <a:solidFill>
                  <a:srgbClr val="7030A0"/>
                </a:solidFill>
                <a:ea typeface="+mn-lt"/>
                <a:cs typeface="+mn-lt"/>
              </a:rPr>
              <a:t>Helps in better agricultural planning and decision-making.</a:t>
            </a:r>
          </a:p>
          <a:p>
            <a:pPr marL="285750" indent="-285750">
              <a:buFont typeface="Wingdings"/>
              <a:buChar char="§"/>
            </a:pPr>
            <a:r>
              <a:rPr lang="en-US" sz="2000" dirty="0">
                <a:solidFill>
                  <a:srgbClr val="7030A0"/>
                </a:solidFill>
                <a:ea typeface="+mn-lt"/>
                <a:cs typeface="+mn-lt"/>
              </a:rPr>
              <a:t>Helps identify the best-performing seasons for agricultural activities.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Supports comparison of crop performance across different seasons and regions.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Helps understand the impact of rainfall and temperature on crop productivity.</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support water-use planning by using water-efficiency analysis.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Helps identify factors affecting agricultural profitability.</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be expanded with real-time agricultural data for continuous monitoring.</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help farmers reduce unnecessary resource usage through data-based planning.</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support government and agricultural planners in making better seasonal decisions.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be developed into a farmer-friendly dashboard or mobile application.</a:t>
            </a:r>
            <a:endParaRPr lang="en-US" sz="2000">
              <a:solidFill>
                <a:srgbClr val="7030A0"/>
              </a:solidFill>
            </a:endParaRPr>
          </a:p>
          <a:p>
            <a:pPr marL="285750" indent="-285750">
              <a:buFont typeface="Wingdings"/>
              <a:buChar char="§"/>
            </a:pPr>
            <a:r>
              <a:rPr lang="en-US" sz="2000" dirty="0">
                <a:solidFill>
                  <a:srgbClr val="7030A0"/>
                </a:solidFill>
                <a:ea typeface="+mn-lt"/>
                <a:cs typeface="+mn-lt"/>
              </a:rPr>
              <a:t>Future predictions can help farmers plan before the cropping season begins.</a:t>
            </a:r>
            <a:endParaRPr lang="en-US" sz="2000">
              <a:solidFill>
                <a:srgbClr val="7030A0"/>
              </a:solidFill>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631547"/>
            <a:ext cx="4735798" cy="810120"/>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B59590D-B60A-66C6-CCBE-D6167686E4DC}"/>
              </a:ext>
            </a:extLst>
          </p:cNvPr>
          <p:cNvSpPr txBox="1"/>
          <p:nvPr/>
        </p:nvSpPr>
        <p:spPr>
          <a:xfrm>
            <a:off x="1195513" y="1713701"/>
            <a:ext cx="834614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solidFill>
                  <a:srgbClr val="002060"/>
                </a:solidFill>
              </a:rPr>
              <a:t>https://github.com/Annamdevula1/Seasonal_Agriculture_Performance_Analysis_Project.git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85C6115-8038-756E-EEF2-79265902F309}"/>
              </a:ext>
            </a:extLst>
          </p:cNvPr>
          <p:cNvPicPr>
            <a:picLocks noChangeAspect="1"/>
          </p:cNvPicPr>
          <p:nvPr/>
        </p:nvPicPr>
        <p:blipFill>
          <a:blip r:embed="rId3"/>
          <a:stretch>
            <a:fillRect/>
          </a:stretch>
        </p:blipFill>
        <p:spPr>
          <a:xfrm>
            <a:off x="678032" y="1400736"/>
            <a:ext cx="9569671" cy="544605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793</cp:revision>
  <dcterms:created xsi:type="dcterms:W3CDTF">2021-07-11T13:13:15Z</dcterms:created>
  <dcterms:modified xsi:type="dcterms:W3CDTF">2026-09-08T11:55:09Z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